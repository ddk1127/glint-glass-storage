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7" r:id="rId13"/>
    <p:sldId id="268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475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95E10-1EB6-8608-0942-384320C3D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7D969D-3A2C-3F01-B805-26756F027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860BB-BFC4-782C-FD6A-781B7A87E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70E34-CE42-45A6-2D4E-F160BD1679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335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EE220-3A8E-EF9D-C4C5-1B3475D94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5999E-D4A3-7C98-2AE5-F5AF4D971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A1733-502A-4E75-201B-887BFAC00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F6E76-5E6C-97CD-E133-08FBFC83FB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107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934F4-9FF7-7F59-3C98-22419A9E9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C18BA-D4CB-EAB4-D723-94B7B2A8D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CA06B-5C32-9714-D9CE-BF91E589A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19B37-5F17-11E1-5E0F-76C6F15E55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52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60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GLINT  /  GLASS STORAGE SCHEDULING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64240" y="65105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7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86384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ZONES OR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SHUTTLE MOBILITY?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267004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6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Characterizing isolation, locality, and coordination in scalable glass storage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18120" y="841248"/>
            <a:ext cx="1325880" cy="786384"/>
          </a:xfrm>
          <a:prstGeom prst="rect">
            <a:avLst/>
          </a:prstGeom>
          <a:solidFill>
            <a:srgbClr val="667580">
              <a:alpha val="82000"/>
            </a:srgbClr>
          </a:solidFill>
          <a:ln w="12700">
            <a:solidFill>
              <a:srgbClr val="D4E0E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818120" y="10789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18120" y="1965960"/>
            <a:ext cx="1325880" cy="786384"/>
          </a:xfrm>
          <a:prstGeom prst="rect">
            <a:avLst/>
          </a:prstGeom>
          <a:solidFill>
            <a:srgbClr val="D9A441"/>
          </a:solidFill>
          <a:ln w="12700">
            <a:solidFill>
              <a:srgbClr val="D4E0E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818120" y="220370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18120" y="3090672"/>
            <a:ext cx="1325880" cy="786384"/>
          </a:xfrm>
          <a:prstGeom prst="rect">
            <a:avLst/>
          </a:prstGeom>
          <a:solidFill>
            <a:srgbClr val="667580">
              <a:alpha val="82000"/>
            </a:srgbClr>
          </a:solidFill>
          <a:ln w="12700">
            <a:solidFill>
              <a:srgbClr val="D4E0E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818120" y="332841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4215384"/>
            <a:ext cx="1325880" cy="786384"/>
          </a:xfrm>
          <a:prstGeom prst="rect">
            <a:avLst/>
          </a:prstGeom>
          <a:solidFill>
            <a:srgbClr val="667580">
              <a:alpha val="82000"/>
            </a:srgbClr>
          </a:solidFill>
          <a:ln w="12700">
            <a:solidFill>
              <a:srgbClr val="D4E0E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818120" y="445312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418320" y="841248"/>
            <a:ext cx="1325880" cy="786384"/>
          </a:xfrm>
          <a:prstGeom prst="rect">
            <a:avLst/>
          </a:prstGeom>
          <a:solidFill>
            <a:srgbClr val="2B819B">
              <a:alpha val="82000"/>
            </a:srgbClr>
          </a:solidFill>
          <a:ln w="12700">
            <a:solidFill>
              <a:srgbClr val="D4E0E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9418320" y="10789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18320" y="1965960"/>
            <a:ext cx="1325880" cy="786384"/>
          </a:xfrm>
          <a:prstGeom prst="rect">
            <a:avLst/>
          </a:prstGeom>
          <a:solidFill>
            <a:srgbClr val="2B819B">
              <a:alpha val="82000"/>
            </a:srgbClr>
          </a:solidFill>
          <a:ln w="12700">
            <a:solidFill>
              <a:srgbClr val="D4E0E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9418320" y="220370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18320" y="3090672"/>
            <a:ext cx="1325880" cy="786384"/>
          </a:xfrm>
          <a:prstGeom prst="rect">
            <a:avLst/>
          </a:prstGeom>
          <a:solidFill>
            <a:srgbClr val="2B819B">
              <a:alpha val="82000"/>
            </a:srgbClr>
          </a:solidFill>
          <a:ln w="12700">
            <a:solidFill>
              <a:srgbClr val="D4E0E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9418320" y="332841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18320" y="4215384"/>
            <a:ext cx="1325880" cy="786384"/>
          </a:xfrm>
          <a:prstGeom prst="rect">
            <a:avLst/>
          </a:prstGeom>
          <a:solidFill>
            <a:srgbClr val="2B819B">
              <a:alpha val="82000"/>
            </a:srgbClr>
          </a:solidFill>
          <a:ln w="12700">
            <a:solidFill>
              <a:srgbClr val="D4E0E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9418320" y="445312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6080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discussion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Scales, Active Resources Do Not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0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passive media increases transport work without adding service bandwidth.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60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088136" y="1965960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399032" y="1965960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709928" y="1965960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77240" y="36758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727A"/>
                </a:solidFill>
              </a:rPr>
              <a:t>Small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1965960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236976" y="1965960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547872" y="1965960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858768" y="1965960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2926080" y="2350008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3236976" y="2350008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547872" y="2350008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3858768" y="2350008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2926080" y="36758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727A"/>
                </a:solidFill>
              </a:rPr>
              <a:t>Medium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74920" y="1965960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5385816" y="1965960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5696712" y="1965960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007608" y="1965960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074920" y="2350008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5385816" y="2350008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5696712" y="2350008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6007608" y="2350008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5074920" y="2734056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5385816" y="2734056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5696712" y="2734056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007608" y="2734056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5074920" y="3118104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5385816" y="3118104"/>
            <a:ext cx="228600" cy="292608"/>
          </a:xfrm>
          <a:prstGeom prst="rect">
            <a:avLst/>
          </a:prstGeom>
          <a:solidFill>
            <a:srgbClr val="9FD0D9">
              <a:alpha val="92000"/>
            </a:srgbClr>
          </a:solidFill>
          <a:ln w="12700">
            <a:solidFill>
              <a:srgbClr val="2B81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5074920" y="36758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727A"/>
                </a:solidFill>
              </a:rPr>
              <a:t>Large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949440" y="2395728"/>
            <a:ext cx="594360" cy="292608"/>
          </a:xfrm>
          <a:prstGeom prst="chevron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7772400" y="1554480"/>
            <a:ext cx="352044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8092440" y="1847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727A"/>
                </a:solidFill>
              </a:rPr>
              <a:t>FIXED ACTIVE RESOURCES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92440" y="23317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675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38" name="Text 36"/>
          <p:cNvSpPr/>
          <p:nvPr/>
        </p:nvSpPr>
        <p:spPr>
          <a:xfrm>
            <a:off x="809244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727A"/>
                </a:solidFill>
              </a:rPr>
              <a:t>SHUTTLES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738360" y="23317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40" name="Text 38"/>
          <p:cNvSpPr/>
          <p:nvPr/>
        </p:nvSpPr>
        <p:spPr>
          <a:xfrm>
            <a:off x="973836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727A"/>
                </a:solidFill>
              </a:rPr>
              <a:t>READERS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51560" y="5074920"/>
            <a:ext cx="10515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i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Question: can fixed transport and read resources preserve performance as the library grows?</a:t>
            </a:r>
            <a:endParaRPr lang="en-US" sz="21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Motivation: The Slowest Zone Sets the Tail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0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ownership creates independent queues that cannot share shuttle capacity.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15910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27A"/>
                </a:solidFill>
              </a:rPr>
              <a:t>Zone 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36192" y="1554480"/>
            <a:ext cx="4754880" cy="27432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27A"/>
                </a:solidFill>
              </a:rPr>
              <a:t>Zone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36192" y="2066544"/>
            <a:ext cx="2926080" cy="274320"/>
          </a:xfrm>
          <a:prstGeom prst="rect">
            <a:avLst/>
          </a:prstGeom>
          <a:solidFill>
            <a:srgbClr val="667580">
              <a:alpha val="92000"/>
            </a:srgbClr>
          </a:solidFill>
          <a:ln w="12700">
            <a:solidFill>
              <a:srgbClr val="6675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462272" y="2066544"/>
            <a:ext cx="1828800" cy="274320"/>
          </a:xfrm>
          <a:prstGeom prst="rect">
            <a:avLst/>
          </a:prstGeom>
          <a:solidFill>
            <a:srgbClr val="EDF1F3"/>
          </a:solidFill>
          <a:ln w="12700">
            <a:solidFill>
              <a:srgbClr val="EDF1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13232" y="26151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27A"/>
                </a:solidFill>
              </a:rPr>
              <a:t>Zone 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36192" y="2578608"/>
            <a:ext cx="3749040" cy="274320"/>
          </a:xfrm>
          <a:prstGeom prst="rect">
            <a:avLst/>
          </a:prstGeom>
          <a:solidFill>
            <a:srgbClr val="667580">
              <a:alpha val="92000"/>
            </a:srgbClr>
          </a:solidFill>
          <a:ln w="12700">
            <a:solidFill>
              <a:srgbClr val="6675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285232" y="2578608"/>
            <a:ext cx="1005840" cy="274320"/>
          </a:xfrm>
          <a:prstGeom prst="rect">
            <a:avLst/>
          </a:prstGeom>
          <a:solidFill>
            <a:srgbClr val="EDF1F3"/>
          </a:solidFill>
          <a:ln w="12700">
            <a:solidFill>
              <a:srgbClr val="EDF1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1272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27A"/>
                </a:solidFill>
              </a:rPr>
              <a:t>Zone 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36192" y="3090672"/>
            <a:ext cx="2377440" cy="274320"/>
          </a:xfrm>
          <a:prstGeom prst="rect">
            <a:avLst/>
          </a:prstGeom>
          <a:solidFill>
            <a:srgbClr val="667580">
              <a:alpha val="92000"/>
            </a:srgbClr>
          </a:solidFill>
          <a:ln w="12700">
            <a:solidFill>
              <a:srgbClr val="6675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913632" y="3090672"/>
            <a:ext cx="2377440" cy="274320"/>
          </a:xfrm>
          <a:prstGeom prst="rect">
            <a:avLst/>
          </a:prstGeom>
          <a:solidFill>
            <a:srgbClr val="EDF1F3"/>
          </a:solidFill>
          <a:ln w="12700">
            <a:solidFill>
              <a:srgbClr val="EDF1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13232" y="36393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27A"/>
                </a:solidFill>
              </a:rPr>
              <a:t>Zone 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36192" y="3602736"/>
            <a:ext cx="3383280" cy="274320"/>
          </a:xfrm>
          <a:prstGeom prst="rect">
            <a:avLst/>
          </a:prstGeom>
          <a:solidFill>
            <a:srgbClr val="667580">
              <a:alpha val="92000"/>
            </a:srgbClr>
          </a:solidFill>
          <a:ln w="12700">
            <a:solidFill>
              <a:srgbClr val="6675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919472" y="3602736"/>
            <a:ext cx="1371600" cy="274320"/>
          </a:xfrm>
          <a:prstGeom prst="rect">
            <a:avLst/>
          </a:prstGeom>
          <a:solidFill>
            <a:srgbClr val="EDF1F3"/>
          </a:solidFill>
          <a:ln w="12700">
            <a:solidFill>
              <a:srgbClr val="EDF1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713232" y="41513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27A"/>
                </a:solidFill>
              </a:rPr>
              <a:t>Zone 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36192" y="4114800"/>
            <a:ext cx="2651760" cy="274320"/>
          </a:xfrm>
          <a:prstGeom prst="rect">
            <a:avLst/>
          </a:prstGeom>
          <a:solidFill>
            <a:srgbClr val="667580">
              <a:alpha val="92000"/>
            </a:srgbClr>
          </a:solidFill>
          <a:ln w="12700">
            <a:solidFill>
              <a:srgbClr val="6675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4187952" y="4114800"/>
            <a:ext cx="2103120" cy="274320"/>
          </a:xfrm>
          <a:prstGeom prst="rect">
            <a:avLst/>
          </a:prstGeom>
          <a:solidFill>
            <a:srgbClr val="EDF1F3"/>
          </a:solidFill>
          <a:ln w="12700">
            <a:solidFill>
              <a:srgbClr val="EDF1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13232" y="46634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27A"/>
                </a:solidFill>
              </a:rPr>
              <a:t>Zone 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536192" y="4626864"/>
            <a:ext cx="3200400" cy="274320"/>
          </a:xfrm>
          <a:prstGeom prst="rect">
            <a:avLst/>
          </a:prstGeom>
          <a:solidFill>
            <a:srgbClr val="667580">
              <a:alpha val="92000"/>
            </a:srgbClr>
          </a:solidFill>
          <a:ln w="12700">
            <a:solidFill>
              <a:srgbClr val="6675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736592" y="4626864"/>
            <a:ext cx="1554480" cy="274320"/>
          </a:xfrm>
          <a:prstGeom prst="rect">
            <a:avLst/>
          </a:prstGeom>
          <a:solidFill>
            <a:srgbClr val="EDF1F3"/>
          </a:solidFill>
          <a:ln w="12700">
            <a:solidFill>
              <a:srgbClr val="EDF1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713232" y="51755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27A"/>
                </a:solidFill>
              </a:rPr>
              <a:t>Zone 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536192" y="5138928"/>
            <a:ext cx="2194560" cy="274320"/>
          </a:xfrm>
          <a:prstGeom prst="rect">
            <a:avLst/>
          </a:prstGeom>
          <a:solidFill>
            <a:srgbClr val="667580">
              <a:alpha val="92000"/>
            </a:srgbClr>
          </a:solidFill>
          <a:ln w="12700">
            <a:solidFill>
              <a:srgbClr val="6675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3730752" y="5138928"/>
            <a:ext cx="2560320" cy="274320"/>
          </a:xfrm>
          <a:prstGeom prst="rect">
            <a:avLst/>
          </a:prstGeom>
          <a:solidFill>
            <a:srgbClr val="EDF1F3"/>
          </a:solidFill>
          <a:ln w="12700">
            <a:solidFill>
              <a:srgbClr val="EDF1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6291072" y="1389888"/>
            <a:ext cx="0" cy="425196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5788152" y="56144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A441"/>
                </a:solidFill>
              </a:rPr>
              <a:t>BATCH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9A441"/>
                </a:solidFill>
              </a:rPr>
              <a:t>COMPLETES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60920" y="1600200"/>
            <a:ext cx="393192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7726680" y="1938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cost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589520" y="2500884"/>
            <a:ext cx="347472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requests remain in one zone</a:t>
            </a:r>
          </a:p>
          <a:p>
            <a:pPr marL="215900" indent="-215900">
              <a:buSzPct val="100000"/>
              <a:buChar char="•"/>
            </a:pP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shuttles finish early</a:t>
            </a:r>
          </a:p>
          <a:p>
            <a:pPr marL="215900" indent="-215900">
              <a:buSzPct val="100000"/>
              <a:buChar char="•"/>
            </a:pP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capacity cannot help the tail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726680" y="4617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95C55"/>
                </a:solidFill>
              </a:rPr>
              <a:t>Stranded service capacity</a:t>
            </a:r>
            <a:endParaRPr lang="en-US" sz="17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Want to Test?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0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shared mobility convert idle capacity into lower tail latency?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074920" cy="3566160"/>
          </a:xfrm>
          <a:prstGeom prst="roundRect">
            <a:avLst>
              <a:gd name="adj" fmla="val 1538"/>
            </a:avLst>
          </a:prstGeom>
          <a:solidFill>
            <a:srgbClr val="E9F2EA"/>
          </a:solidFill>
          <a:ln w="12700">
            <a:solidFill>
              <a:srgbClr val="C9D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188720" y="19385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4F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2395728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No-Zone reduces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idle shuttle capacity.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88720" y="39319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27A"/>
                </a:solidFill>
              </a:rPr>
              <a:t>All shuttles draw work from a shared pool.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074920" cy="3566160"/>
          </a:xfrm>
          <a:prstGeom prst="roundRect">
            <a:avLst>
              <a:gd name="adj" fmla="val 1538"/>
            </a:avLst>
          </a:prstGeom>
          <a:solidFill>
            <a:srgbClr val="E8F2F5"/>
          </a:solidFill>
          <a:ln w="12700">
            <a:solidFill>
              <a:srgbClr val="C9DD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629400" y="19385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2B8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29400" y="2395728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idle capacity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reduces tail latency.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629400" y="39319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27A"/>
                </a:solidFill>
              </a:rPr>
              <a:t>More active shuttles should drain work sooner.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97296" y="3063240"/>
            <a:ext cx="502920" cy="292608"/>
          </a:xfrm>
          <a:prstGeom prst="chevron">
            <a:avLst/>
          </a:prstGeom>
          <a:solidFill>
            <a:srgbClr val="60727A"/>
          </a:solidFill>
          <a:ln w="12700">
            <a:solidFill>
              <a:srgbClr val="60727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Baselines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0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isolates fixed ownership versus shared movement.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051560" y="1755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7580"/>
                </a:solidFill>
              </a:rPr>
              <a:t>STATIC ZONE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1560" y="2331720"/>
            <a:ext cx="2148840" cy="438912"/>
          </a:xfrm>
          <a:prstGeom prst="rect">
            <a:avLst/>
          </a:prstGeom>
          <a:solidFill>
            <a:srgbClr val="EDF1F3"/>
          </a:solidFill>
          <a:ln w="12700">
            <a:solidFill>
              <a:srgbClr val="6675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234440" y="245973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238"/>
                </a:solidFill>
              </a:rPr>
              <a:t>Zone 0  →  Shuttle 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51560" y="2990088"/>
            <a:ext cx="2148840" cy="438912"/>
          </a:xfrm>
          <a:prstGeom prst="rect">
            <a:avLst/>
          </a:prstGeom>
          <a:solidFill>
            <a:srgbClr val="EDF1F3"/>
          </a:solidFill>
          <a:ln w="12700">
            <a:solidFill>
              <a:srgbClr val="6675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234440" y="31181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238"/>
                </a:solidFill>
              </a:rPr>
              <a:t>Zone 1  →  Shuttle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51560" y="3648456"/>
            <a:ext cx="2148840" cy="438912"/>
          </a:xfrm>
          <a:prstGeom prst="rect">
            <a:avLst/>
          </a:prstGeom>
          <a:solidFill>
            <a:srgbClr val="EDF1F3"/>
          </a:solidFill>
          <a:ln w="12700">
            <a:solidFill>
              <a:srgbClr val="6675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234440" y="377647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238"/>
                </a:solidFill>
              </a:rPr>
              <a:t>Zone 2  →  Shuttle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51560" y="4306824"/>
            <a:ext cx="2148840" cy="438912"/>
          </a:xfrm>
          <a:prstGeom prst="rect">
            <a:avLst/>
          </a:prstGeom>
          <a:solidFill>
            <a:srgbClr val="EDF1F3"/>
          </a:solidFill>
          <a:ln w="12700">
            <a:solidFill>
              <a:srgbClr val="6675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1234440" y="443484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238"/>
                </a:solidFill>
              </a:rPr>
              <a:t>Zone 3  →  Shuttle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2212848"/>
            <a:ext cx="2011680" cy="2651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owner</a:t>
            </a:r>
          </a:p>
          <a:p>
            <a:pPr marL="203200" indent="-203200">
              <a:buSzPct val="100000"/>
              <a:buChar char="•"/>
            </a:pP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reader</a:t>
            </a:r>
          </a:p>
          <a:p>
            <a:pPr marL="203200" indent="-203200">
              <a:buSzPct val="100000"/>
              <a:buChar char="•"/>
            </a:pP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movement</a:t>
            </a:r>
          </a:p>
          <a:p>
            <a:pPr marL="203200" indent="-203200">
              <a:buSzPct val="100000"/>
              <a:buChar char="•"/>
            </a:pP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Conflict-free abstraction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1417320"/>
            <a:ext cx="52120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629400" y="1755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819B"/>
                </a:solidFill>
              </a:rPr>
              <a:t>GREEDY NO-ZONE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29400" y="2240280"/>
            <a:ext cx="2011680" cy="438912"/>
          </a:xfrm>
          <a:prstGeom prst="roundRect">
            <a:avLst>
              <a:gd name="adj" fmla="val 8333"/>
            </a:avLst>
          </a:prstGeom>
          <a:solidFill>
            <a:srgbClr val="E8F2F5"/>
          </a:solidFill>
          <a:ln w="12700">
            <a:solidFill>
              <a:srgbClr val="2B81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812280" y="236829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238"/>
                </a:solidFill>
              </a:rPr>
              <a:t>Oldest task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5400000">
            <a:off x="7515953" y="2743617"/>
            <a:ext cx="238574" cy="292608"/>
          </a:xfrm>
          <a:prstGeom prst="chevron">
            <a:avLst/>
          </a:prstGeom>
          <a:solidFill>
            <a:srgbClr val="60727A"/>
          </a:solidFill>
          <a:ln w="12700">
            <a:solidFill>
              <a:srgbClr val="60727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6629400" y="3035808"/>
            <a:ext cx="2011680" cy="438912"/>
          </a:xfrm>
          <a:prstGeom prst="roundRect">
            <a:avLst>
              <a:gd name="adj" fmla="val 8333"/>
            </a:avLst>
          </a:prstGeom>
          <a:solidFill>
            <a:srgbClr val="E8F2F5"/>
          </a:solidFill>
          <a:ln w="12700">
            <a:solidFill>
              <a:srgbClr val="2B81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812280" y="316382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238"/>
                </a:solidFill>
              </a:rPr>
              <a:t>Nearest idle shuttle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5400000">
            <a:off x="7505560" y="3494671"/>
            <a:ext cx="259357" cy="292608"/>
          </a:xfrm>
          <a:prstGeom prst="chevron">
            <a:avLst>
              <a:gd name="adj" fmla="val 56411"/>
            </a:avLst>
          </a:prstGeom>
          <a:solidFill>
            <a:srgbClr val="60727A"/>
          </a:solidFill>
          <a:ln w="12700">
            <a:solidFill>
              <a:srgbClr val="60727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6629400" y="3824685"/>
            <a:ext cx="2011680" cy="438912"/>
          </a:xfrm>
          <a:prstGeom prst="roundRect">
            <a:avLst>
              <a:gd name="adj" fmla="val 8333"/>
            </a:avLst>
          </a:prstGeom>
          <a:solidFill>
            <a:srgbClr val="E8F2F5"/>
          </a:solidFill>
          <a:ln w="12700">
            <a:solidFill>
              <a:srgbClr val="2B81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812280" y="3952701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238"/>
                </a:solidFill>
              </a:rPr>
              <a:t>Nearest reader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rot="5400000">
            <a:off x="7513873" y="4302668"/>
            <a:ext cx="242732" cy="292608"/>
          </a:xfrm>
          <a:prstGeom prst="chevron">
            <a:avLst/>
          </a:prstGeom>
          <a:solidFill>
            <a:srgbClr val="60727A"/>
          </a:solidFill>
          <a:ln w="12700">
            <a:solidFill>
              <a:srgbClr val="60727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6629400" y="4604834"/>
            <a:ext cx="2011680" cy="438912"/>
          </a:xfrm>
          <a:prstGeom prst="roundRect">
            <a:avLst>
              <a:gd name="adj" fmla="val 8333"/>
            </a:avLst>
          </a:prstGeom>
          <a:solidFill>
            <a:srgbClr val="F7EDDB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812280" y="473285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238"/>
                </a:solidFill>
              </a:rPr>
              <a:t>Reserve route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89720" y="2331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819B"/>
                </a:solidFill>
              </a:rPr>
              <a:t>Shared work pool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89720" y="2862072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0727A"/>
                </a:solidFill>
              </a:rPr>
              <a:t>Freedom is useful only when scheduling converts it into productive work.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Greedy No-Zone Handles Conflicts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0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routes are delayed or detoured when shuttle trajectories overlap.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54864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96112" y="16642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HEAD-ON ENCOUNTER</a:t>
            </a:r>
            <a:endParaRPr lang="en-US" sz="1000" dirty="0"/>
          </a:p>
        </p:txBody>
      </p:sp>
      <p:pic>
        <p:nvPicPr>
          <p:cNvPr id="6" name="Image 0" descr="/Users/dongchengen/Desktop/glint-glass-storage/results/shuttle-yield-demo/fig2_head_on_explai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80844"/>
            <a:ext cx="5029200" cy="2816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27A"/>
                </a:solidFill>
              </a:rPr>
              <a:t>B changes rack; A waits until the original rack is clear.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09360" y="1389888"/>
            <a:ext cx="52578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6601968" y="16642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2B8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SAME-DIRECTION CATCH-UP</a:t>
            </a:r>
            <a:endParaRPr lang="en-US" sz="1000" dirty="0"/>
          </a:p>
        </p:txBody>
      </p:sp>
      <p:pic>
        <p:nvPicPr>
          <p:cNvPr id="10" name="Image 1" descr="/Users/dongchengen/Desktop/glint-glass-storage/results/shuttle-following-service/fig1_pickup_to_re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899458"/>
            <a:ext cx="4709160" cy="34248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0" y="53949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27A"/>
                </a:solidFill>
              </a:rPr>
              <a:t>The following shuttle slows or waits to preserve clearance.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Trace-Driven Experiment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0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policies receive the same requests and physical placement.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81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2677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27A"/>
                </a:solidFill>
              </a:rPr>
              <a:t>Azure blob requests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50876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3657600" y="1691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0" y="22677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27A"/>
                </a:solidFill>
              </a:rPr>
              <a:t>Virtual platters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081528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914400" y="326440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675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+ 8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27A"/>
                </a:solidFill>
              </a:rPr>
              <a:t>Shuttles and readers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3081528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657600" y="326440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657600" y="38404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27A"/>
                </a:solidFill>
              </a:rPr>
              <a:t>Paired placement seeds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1508760"/>
            <a:ext cx="47548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949440" y="18470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60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PANEL-SIDE LENGTH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31152" y="2423160"/>
            <a:ext cx="566928" cy="566928"/>
          </a:xfrm>
          <a:prstGeom prst="ellipse">
            <a:avLst/>
          </a:prstGeom>
          <a:solidFill>
            <a:srgbClr val="E8F2F5"/>
          </a:solidFill>
          <a:ln w="12700">
            <a:solidFill>
              <a:srgbClr val="2B81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876288" y="2606040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3238"/>
                </a:solidFill>
              </a:rPr>
              <a:t>4 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2706624"/>
            <a:ext cx="265176" cy="0"/>
          </a:xfrm>
          <a:prstGeom prst="line">
            <a:avLst/>
          </a:prstGeom>
          <a:noFill/>
          <a:ln w="25400">
            <a:solidFill>
              <a:srgbClr val="D7E0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7763256" y="2423160"/>
            <a:ext cx="566928" cy="566928"/>
          </a:xfrm>
          <a:prstGeom prst="ellipse">
            <a:avLst/>
          </a:prstGeom>
          <a:solidFill>
            <a:srgbClr val="E8F2F5"/>
          </a:solidFill>
          <a:ln w="12700">
            <a:solidFill>
              <a:srgbClr val="2B81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708392" y="2606040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3238"/>
                </a:solidFill>
              </a:rPr>
              <a:t>8 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30184" y="2706624"/>
            <a:ext cx="265176" cy="0"/>
          </a:xfrm>
          <a:prstGeom prst="line">
            <a:avLst/>
          </a:prstGeom>
          <a:noFill/>
          <a:ln w="25400">
            <a:solidFill>
              <a:srgbClr val="D7E0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8595360" y="2423160"/>
            <a:ext cx="566928" cy="566928"/>
          </a:xfrm>
          <a:prstGeom prst="ellipse">
            <a:avLst/>
          </a:prstGeom>
          <a:solidFill>
            <a:srgbClr val="E8F2F5"/>
          </a:solidFill>
          <a:ln w="12700">
            <a:solidFill>
              <a:srgbClr val="2B81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8540496" y="2606040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3238"/>
                </a:solidFill>
              </a:rPr>
              <a:t>16 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62288" y="2706624"/>
            <a:ext cx="265176" cy="0"/>
          </a:xfrm>
          <a:prstGeom prst="line">
            <a:avLst/>
          </a:prstGeom>
          <a:noFill/>
          <a:ln w="25400">
            <a:solidFill>
              <a:srgbClr val="D7E0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9427464" y="2423160"/>
            <a:ext cx="566928" cy="566928"/>
          </a:xfrm>
          <a:prstGeom prst="ellipse">
            <a:avLst/>
          </a:prstGeom>
          <a:solidFill>
            <a:srgbClr val="E8F2F5"/>
          </a:solidFill>
          <a:ln w="12700">
            <a:solidFill>
              <a:srgbClr val="2B81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9372600" y="2606040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3238"/>
                </a:solidFill>
              </a:rPr>
              <a:t>32 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994392" y="2706624"/>
            <a:ext cx="265176" cy="0"/>
          </a:xfrm>
          <a:prstGeom prst="line">
            <a:avLst/>
          </a:prstGeom>
          <a:noFill/>
          <a:ln w="25400">
            <a:solidFill>
              <a:srgbClr val="D7E0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10259568" y="2423160"/>
            <a:ext cx="566928" cy="5669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10204704" y="2606040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64 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3383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Preserved from the raw trace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3767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27A"/>
                </a:solidFill>
              </a:rPr>
              <a:t>Arrival time · request order · object identity · bytes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" y="5623560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0727A"/>
                </a:solidFill>
              </a:rPr>
              <a:t>Physical glass locations are seeded synthetic mappings shared by both policies.</a:t>
            </a:r>
            <a:endParaRPr lang="en-US" sz="13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Unexpected Result: Greedy No-Zone Is Slower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0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mobility lowers idle capacity, but p99 request latency remains higher.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6CEA442-8A4B-AB5D-3576-E8DDB0B61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08176"/>
            <a:ext cx="10939776" cy="44714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Greedy No-Zone Slower?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0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physical glass service becomes less efficient.</a:t>
            </a:r>
            <a:endParaRPr lang="en-US" sz="1400" dirty="0"/>
          </a:p>
        </p:txBody>
      </p:sp>
      <p:pic>
        <p:nvPicPr>
          <p:cNvPr id="4" name="Image 0" descr="/Users/dongchengen/Desktop/glint-glass-storage/results/zone-nozone-comparison-4-64/fig3_service_phas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7" y="1298448"/>
            <a:ext cx="10785741" cy="4956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Trade-off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0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pays in stranded capacity; No-Zone pays per service.</a:t>
            </a:r>
            <a:endParaRPr lang="en-US" sz="1400" dirty="0"/>
          </a:p>
        </p:txBody>
      </p:sp>
      <p:pic>
        <p:nvPicPr>
          <p:cNvPr id="4" name="Image 0" descr="/Users/dongchengen/Desktop/glint-glass-storage/results/zone-nozone-comparison-4-64/fig4_isolation_vs_coordin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19936"/>
            <a:ext cx="11064240" cy="47576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65960" y="6035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shuttle utilization does not imply higher productive throughput.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8477D-9513-6FAD-EEEB-FDDEAF0A3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E9DA65F-2573-7C03-2638-3364615EB6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E130A7D-4ECF-441E-E635-8C931EE4E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74" y="440704"/>
            <a:ext cx="10625051" cy="597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03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469D3-E469-0DA4-9E82-A2123C4E4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08AFC7D-6C6B-F8E3-9ECB-F97BBB537FE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2CF2A6C-B8FA-1412-DF0A-9D4401D2D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51" y="1492826"/>
            <a:ext cx="10115654" cy="4242955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98D4000C-B5DA-6112-8B01-48AE55F01EBE}"/>
              </a:ext>
            </a:extLst>
          </p:cNvPr>
          <p:cNvSpPr/>
          <p:nvPr/>
        </p:nvSpPr>
        <p:spPr>
          <a:xfrm>
            <a:off x="769851" y="67444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 Latency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11355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DF380-5608-FF39-CEC7-A0CFD6EB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D6F8A7B-D0C4-0167-DE91-BC00068275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7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16B8C990-A3FC-B79A-B997-F6839806D8E5}"/>
              </a:ext>
            </a:extLst>
          </p:cNvPr>
          <p:cNvSpPr/>
          <p:nvPr/>
        </p:nvSpPr>
        <p:spPr>
          <a:xfrm>
            <a:off x="769851" y="67444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 Latency</a:t>
            </a:r>
            <a:endParaRPr lang="en-US" sz="28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85CCCE4-FFE6-DB32-1A98-C3691824B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723" y="1291623"/>
            <a:ext cx="9547167" cy="489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14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9FB3BB"/>
                </a:solidFill>
              </a:rPr>
              <a:t>REFINED RESEARCH 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07899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 stranded capacity without sacrificing locality and traffic isolation.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3232" y="2743200"/>
            <a:ext cx="2487168" cy="2331720"/>
          </a:xfrm>
          <a:prstGeom prst="roundRect">
            <a:avLst>
              <a:gd name="adj" fmla="val 1961"/>
            </a:avLst>
          </a:prstGeom>
          <a:solidFill>
            <a:srgbClr val="314149"/>
          </a:solidFill>
          <a:ln w="12700">
            <a:solidFill>
              <a:srgbClr val="53666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914400" y="2971800"/>
            <a:ext cx="438912" cy="438912"/>
          </a:xfrm>
          <a:prstGeom prst="ellipse">
            <a:avLst/>
          </a:prstGeom>
          <a:solidFill>
            <a:srgbClr val="2B819B"/>
          </a:solidFill>
          <a:ln w="12700">
            <a:solidFill>
              <a:srgbClr val="2B81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14400" y="30906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baseline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C5D2D7"/>
                </a:solidFill>
              </a:rPr>
              <a:t>Allow the flexible scheduler to emulate Static Zone.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9584" y="2743200"/>
            <a:ext cx="2487168" cy="2331720"/>
          </a:xfrm>
          <a:prstGeom prst="roundRect">
            <a:avLst>
              <a:gd name="adj" fmla="val 1961"/>
            </a:avLst>
          </a:prstGeom>
          <a:solidFill>
            <a:srgbClr val="314149"/>
          </a:solidFill>
          <a:ln w="12700">
            <a:solidFill>
              <a:srgbClr val="53666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730752" y="2971800"/>
            <a:ext cx="438912" cy="438912"/>
          </a:xfrm>
          <a:prstGeom prst="ellipse">
            <a:avLst/>
          </a:prstGeom>
          <a:solidFill>
            <a:srgbClr val="2B819B"/>
          </a:solidFill>
          <a:ln w="12700">
            <a:solidFill>
              <a:srgbClr val="2B81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730752" y="30906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30752" y="36118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Locality-aware assignment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30752" y="4160520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C5D2D7"/>
                </a:solidFill>
              </a:rPr>
              <a:t>Choose task, shuttle, and reader by expected completion.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45936" y="2743200"/>
            <a:ext cx="2487168" cy="2331720"/>
          </a:xfrm>
          <a:prstGeom prst="roundRect">
            <a:avLst>
              <a:gd name="adj" fmla="val 1961"/>
            </a:avLst>
          </a:prstGeom>
          <a:solidFill>
            <a:srgbClr val="314149"/>
          </a:solidFill>
          <a:ln w="12700">
            <a:solidFill>
              <a:srgbClr val="53666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547104" y="2971800"/>
            <a:ext cx="438912" cy="438912"/>
          </a:xfrm>
          <a:prstGeom prst="ellipse">
            <a:avLst/>
          </a:prstGeom>
          <a:solidFill>
            <a:srgbClr val="2B819B"/>
          </a:solidFill>
          <a:ln w="12700">
            <a:solidFill>
              <a:srgbClr val="2B81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547104" y="30906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47104" y="36118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 coordination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47104" y="4160520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C5D2D7"/>
                </a:solidFill>
              </a:rPr>
              <a:t>Plan only interacting shuttle paths in a short horizon.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62288" y="2743200"/>
            <a:ext cx="2487168" cy="2331720"/>
          </a:xfrm>
          <a:prstGeom prst="roundRect">
            <a:avLst>
              <a:gd name="adj" fmla="val 1961"/>
            </a:avLst>
          </a:prstGeom>
          <a:solidFill>
            <a:srgbClr val="37474F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9363456" y="2971800"/>
            <a:ext cx="438912" cy="43891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9363456" y="30906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63456" y="36118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Feeder buffering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63456" y="4160520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C5D2D7"/>
                </a:solidFill>
              </a:rPr>
              <a:t>Overlap platter transport with reader service when starvation dominates.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58064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DDE8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provides more than collision avoidance: it also preserves movement locality.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527</Words>
  <Application>Microsoft Macintosh PowerPoint</Application>
  <PresentationFormat>寬螢幕</PresentationFormat>
  <Paragraphs>149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GLINT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Zones or Free Shuttle Mobility?</dc:title>
  <dc:subject>Static Zone and Greedy No-Zone characterization</dc:subject>
  <dc:creator>GLINT Research</dc:creator>
  <cp:lastModifiedBy>董承恩</cp:lastModifiedBy>
  <cp:revision>3</cp:revision>
  <dcterms:created xsi:type="dcterms:W3CDTF">2026-09-14T03:19:33Z</dcterms:created>
  <dcterms:modified xsi:type="dcterms:W3CDTF">2026-09-14T06:06:04Z</dcterms:modified>
</cp:coreProperties>
</file>