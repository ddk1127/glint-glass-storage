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135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這一頁不要重新介紹 Glass Library，而是直接推翻舊直覺。傳統 disk scale-out 雖然不一定線性成長，但新增裝置通常會帶來新的 I/O endpoint。Glass platter 是 passive media，新增容量不會自動增加 reader 或 shuttle。接下來要問的是：這種 capacity-service decoupling 會造成什麼效能結果？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研究範圍先固定 active hardware。我們不是要找最佳 reader/shuttle 配比，也不是用增加硬體解決問題。唯一擴充的是 passive capacity、slots 與 physical range。這能讓後續 throughput degradation 明確歸因到容量擴張下的服務成本。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這一頁把 capacity 和 throughput 的因果條件講清楚。不是 platter count 本身讓 throughput 下降，而是 request 所觸及的 physical range 隨容量擴張。若新增容量完全是 cold data，結果可能不同。這個限制應該主動說明，避免把條件式 observation 說成普遍定律。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這頁是教授最容易檢查實驗是否公平的地方。所有 capacity points 都使用同樣的 640 個 tasks、相同 request size、相同 active resources 與 paired seeds。也要清楚說明目前沒有 prefetch、staging 與 collision，因此結果是 mechanism pilot，不代表真實 production Silica 的精確數字。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這一頁只講現象，不急著談 zone。相同 batch 在 32× capacity 只保留約 35.3% throughput。因為 requests 和硬體都固定，所以 throughput loss 必須來自每次 service cycle 的時間增加。下一頁再分解原因。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這張圖解釋 throughput loss。Reader read、load/unload 和 platter pick/place 都固定，只有 shuttle movement 從 8.53 秒增加到 50.39 秒。系統不是 reader 變慢，而是每個 cycle 花在 reader 的比例越來越低。這一步只帶出 movement management 重要，還不能直接推論 zone 必要。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這一頁防止邏輯跳躍。長距離 movement 只代表 latency 增加，不代表一定發生 congestion。Zone 解決的是多 shuttle 互相阻擋與 traffic-management complexity，而不是距離本身。因此下一步必須建立 collision-free traffic model，才能判斷 zone 是否真正有價值。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Zone 最適合的場景是 traffic 很密集，同時 workload 又能平均落在各區。這時 spatial isolation 能減少 blocking，且不會留下大量 idle resources。這是我們預期的 zone-beneficial region，但在目前 simulator 尚未有 collision model，所以先標成 hypothesis。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Static zone 的代價是 ownership fragmentation。只要 request 分布和 boundary 不一致，一個 owner 可能持續忙碌，其他資源卻無法幫忙。這頁不要宣稱某一個 skew threshold 已經確定，只呈現我們已經理解的 causal mechanism，下一步再找 crossover。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這是 capacity 和 zone 的真正橋接。固定 shuttle 數量下，面積變大會降低空間密度，可能減少 encounters；但更長的 trips 也讓 rails 被占用更久，reader 入口的共同瓶頸仍存在。因此 capacity 越大到底越需要 zone 或越不需要，不能先假設，必須實驗量測。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這一頁提出一個新的研究方向。Static zone 是用永久限制移動來避免 shuttle interaction，優點是簡單、可預測，缺點是空閒資源不能跨區幫忙。另一個方向是讓 controller 只在路徑真正衝突時進行協調，沒有衝突時仍允許跨區服務。這不代表 controller 一定更好，因為即時 scheduling 也有計算與 traffic overhead。我們真正要問的是：能否在維持 conflict-free movement 的同時，避免 permanent ownership restriction？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7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SCALABILITY IN GLASS STORAGE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6537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glass does not mean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service bandwidth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C4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capacity can grow while readers and shuttles remain fixed.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60920" y="841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SCALE-OUT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60920" y="1170432"/>
            <a:ext cx="1024128" cy="1225296"/>
          </a:xfrm>
          <a:prstGeom prst="roundRect">
            <a:avLst>
              <a:gd name="adj" fmla="val 3571"/>
            </a:avLst>
          </a:prstGeom>
          <a:solidFill>
            <a:srgbClr val="E4EEF5"/>
          </a:solidFill>
          <a:ln w="13970">
            <a:solidFill>
              <a:srgbClr val="397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7708392" y="1380744"/>
            <a:ext cx="329184" cy="329184"/>
          </a:xfrm>
          <a:prstGeom prst="ellipse">
            <a:avLst/>
          </a:prstGeom>
          <a:solidFill>
            <a:srgbClr val="3979A8"/>
          </a:solidFill>
          <a:ln w="12700">
            <a:solidFill>
              <a:srgbClr val="397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470648" y="192938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+ I/O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13648" y="1170432"/>
            <a:ext cx="1024128" cy="1225296"/>
          </a:xfrm>
          <a:prstGeom prst="roundRect">
            <a:avLst>
              <a:gd name="adj" fmla="val 3571"/>
            </a:avLst>
          </a:prstGeom>
          <a:solidFill>
            <a:srgbClr val="E4EEF5"/>
          </a:solidFill>
          <a:ln w="13970">
            <a:solidFill>
              <a:srgbClr val="397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8961120" y="1380744"/>
            <a:ext cx="329184" cy="329184"/>
          </a:xfrm>
          <a:prstGeom prst="ellipse">
            <a:avLst/>
          </a:prstGeom>
          <a:solidFill>
            <a:srgbClr val="3979A8"/>
          </a:solidFill>
          <a:ln w="12700">
            <a:solidFill>
              <a:srgbClr val="397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723376" y="192938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+ I/O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66376" y="1170432"/>
            <a:ext cx="1024128" cy="1225296"/>
          </a:xfrm>
          <a:prstGeom prst="roundRect">
            <a:avLst>
              <a:gd name="adj" fmla="val 3571"/>
            </a:avLst>
          </a:prstGeom>
          <a:solidFill>
            <a:srgbClr val="E4EEF5"/>
          </a:solidFill>
          <a:ln w="13970">
            <a:solidFill>
              <a:srgbClr val="397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0213848" y="1380744"/>
            <a:ext cx="329184" cy="329184"/>
          </a:xfrm>
          <a:prstGeom prst="ellipse">
            <a:avLst/>
          </a:prstGeom>
          <a:solidFill>
            <a:srgbClr val="3979A8"/>
          </a:solidFill>
          <a:ln w="12700">
            <a:solidFill>
              <a:srgbClr val="397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976104" y="192938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+ I/O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60920" y="28712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SCALE-OUT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60920" y="3273552"/>
            <a:ext cx="310896" cy="822960"/>
          </a:xfrm>
          <a:prstGeom prst="roundRect">
            <a:avLst>
              <a:gd name="adj" fmla="val 7353"/>
            </a:avLst>
          </a:prstGeom>
          <a:solidFill>
            <a:srgbClr val="DCEFF1">
              <a:alpha val="92000"/>
            </a:srgbClr>
          </a:solidFill>
          <a:ln w="1143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7772400" y="3346704"/>
            <a:ext cx="310896" cy="822960"/>
          </a:xfrm>
          <a:prstGeom prst="roundRect">
            <a:avLst>
              <a:gd name="adj" fmla="val 7353"/>
            </a:avLst>
          </a:prstGeom>
          <a:solidFill>
            <a:srgbClr val="DCEFF1">
              <a:alpha val="92000"/>
            </a:srgbClr>
          </a:solidFill>
          <a:ln w="1143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183880" y="3273552"/>
            <a:ext cx="310896" cy="822960"/>
          </a:xfrm>
          <a:prstGeom prst="roundRect">
            <a:avLst>
              <a:gd name="adj" fmla="val 7353"/>
            </a:avLst>
          </a:prstGeom>
          <a:solidFill>
            <a:srgbClr val="DCEFF1">
              <a:alpha val="92000"/>
            </a:srgbClr>
          </a:solidFill>
          <a:ln w="1143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8595360" y="3346704"/>
            <a:ext cx="310896" cy="822960"/>
          </a:xfrm>
          <a:prstGeom prst="roundRect">
            <a:avLst>
              <a:gd name="adj" fmla="val 7353"/>
            </a:avLst>
          </a:prstGeom>
          <a:solidFill>
            <a:srgbClr val="DCEFF1">
              <a:alpha val="92000"/>
            </a:srgbClr>
          </a:solidFill>
          <a:ln w="1143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9006840" y="3273552"/>
            <a:ext cx="310896" cy="822960"/>
          </a:xfrm>
          <a:prstGeom prst="roundRect">
            <a:avLst>
              <a:gd name="adj" fmla="val 7353"/>
            </a:avLst>
          </a:prstGeom>
          <a:solidFill>
            <a:srgbClr val="DCEFF1">
              <a:alpha val="92000"/>
            </a:srgbClr>
          </a:solidFill>
          <a:ln w="1143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9418320" y="3346704"/>
            <a:ext cx="310896" cy="822960"/>
          </a:xfrm>
          <a:prstGeom prst="roundRect">
            <a:avLst>
              <a:gd name="adj" fmla="val 7353"/>
            </a:avLst>
          </a:prstGeom>
          <a:solidFill>
            <a:srgbClr val="DCEFF1">
              <a:alpha val="92000"/>
            </a:srgbClr>
          </a:solidFill>
          <a:ln w="1143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9985248" y="3547872"/>
            <a:ext cx="438912" cy="274320"/>
          </a:xfrm>
          <a:prstGeom prst="chevron">
            <a:avLst/>
          </a:prstGeom>
          <a:solidFill>
            <a:srgbClr val="D96C35"/>
          </a:solidFill>
          <a:ln w="1270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0625328" y="3383280"/>
            <a:ext cx="585216" cy="585216"/>
          </a:xfrm>
          <a:prstGeom prst="ellipse">
            <a:avLst/>
          </a:prstGeom>
          <a:solidFill>
            <a:srgbClr val="D96C35"/>
          </a:solidFill>
          <a:ln w="1270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10625328" y="355701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60920" y="4407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media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08592" y="440740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3A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active service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60920" y="5074920"/>
            <a:ext cx="3858768" cy="694944"/>
          </a:xfrm>
          <a:prstGeom prst="roundRect">
            <a:avLst>
              <a:gd name="adj" fmla="val 5263"/>
            </a:avLst>
          </a:prstGeom>
          <a:solidFill>
            <a:srgbClr val="1C2C35"/>
          </a:solidFill>
          <a:ln w="10160">
            <a:solidFill>
              <a:srgbClr val="3950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7589520" y="523036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intuition: capacity ↑ ⇒ throughput ↑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reality: capacity ↑, service resources unchanged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21792" y="64282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4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claim: glass decouples passive capacity from active service resources.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2824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passive capacity; hold active hardware fixed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5166360" cy="4251960"/>
          </a:xfrm>
          <a:prstGeom prst="roundRect">
            <a:avLst>
              <a:gd name="adj" fmla="val 1075"/>
            </a:avLst>
          </a:prstGeom>
          <a:solidFill>
            <a:srgbClr val="DCEFF1"/>
          </a:solidFill>
          <a:ln w="1270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87552" y="17647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SCALES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219456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 → 32×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987552" y="30632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platters and storage slots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37033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Storage-rack footprint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4343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access range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63640" y="1444752"/>
            <a:ext cx="5166360" cy="4251960"/>
          </a:xfrm>
          <a:prstGeom prst="roundRect">
            <a:avLst>
              <a:gd name="adj" fmla="val 1075"/>
            </a:avLst>
          </a:prstGeom>
          <a:solidFill>
            <a:srgbClr val="F8E6DC"/>
          </a:solidFill>
          <a:ln w="1270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592824" y="1764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FIXED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92824" y="219456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readers + 8 shuttles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92824" y="30632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throughput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92824" y="37033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physical work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92824" y="4343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provisioning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591616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optimize the reader/shuttle ratio in this study.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" y="64282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characterize performance degradation before proposing a movement-management design.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2824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MECHANISM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affects performance only when accesses span the enlarged library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2276856"/>
            <a:ext cx="2148840" cy="2304288"/>
          </a:xfrm>
          <a:prstGeom prst="roundRect">
            <a:avLst>
              <a:gd name="adj" fmla="val 1702"/>
            </a:avLst>
          </a:prstGeom>
          <a:solidFill>
            <a:srgbClr val="DCEFF1"/>
          </a:solidFill>
          <a:ln w="1270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572768" y="2578608"/>
            <a:ext cx="493776" cy="493776"/>
          </a:xfrm>
          <a:prstGeom prst="ellipse">
            <a:avLst/>
          </a:prstGeom>
          <a:solidFill>
            <a:srgbClr val="218C99"/>
          </a:solidFill>
          <a:ln w="1270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572768" y="272491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326440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capacity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72160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available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locations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54096" y="3264408"/>
            <a:ext cx="347472" cy="274320"/>
          </a:xfrm>
          <a:prstGeom prst="chevron">
            <a:avLst/>
          </a:prstGeom>
          <a:solidFill>
            <a:srgbClr val="7F8A94"/>
          </a:solidFill>
          <a:ln w="12700">
            <a:solidFill>
              <a:srgbClr val="7F8A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93008" y="2276856"/>
            <a:ext cx="2148840" cy="2304288"/>
          </a:xfrm>
          <a:prstGeom prst="roundRect">
            <a:avLst>
              <a:gd name="adj" fmla="val 1702"/>
            </a:avLst>
          </a:prstGeom>
          <a:solidFill>
            <a:srgbClr val="E4EEF5"/>
          </a:solidFill>
          <a:ln w="12700">
            <a:solidFill>
              <a:srgbClr val="397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315968" y="2578608"/>
            <a:ext cx="493776" cy="493776"/>
          </a:xfrm>
          <a:prstGeom prst="ellipse">
            <a:avLst/>
          </a:prstGeom>
          <a:solidFill>
            <a:srgbClr val="3979A8"/>
          </a:solidFill>
          <a:ln w="12700">
            <a:solidFill>
              <a:srgbClr val="397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315968" y="272491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75888" y="326440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reach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75888" y="372160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platters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farther away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97296" y="3264408"/>
            <a:ext cx="347472" cy="274320"/>
          </a:xfrm>
          <a:prstGeom prst="chevron">
            <a:avLst/>
          </a:prstGeom>
          <a:solidFill>
            <a:srgbClr val="7F8A94"/>
          </a:solidFill>
          <a:ln w="12700">
            <a:solidFill>
              <a:srgbClr val="7F8A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236208" y="2276856"/>
            <a:ext cx="2148840" cy="2304288"/>
          </a:xfrm>
          <a:prstGeom prst="roundRect">
            <a:avLst>
              <a:gd name="adj" fmla="val 1702"/>
            </a:avLst>
          </a:prstGeom>
          <a:solidFill>
            <a:srgbClr val="F8E6DC"/>
          </a:solidFill>
          <a:ln w="1270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7059168" y="2578608"/>
            <a:ext cx="493776" cy="493776"/>
          </a:xfrm>
          <a:prstGeom prst="ellipse">
            <a:avLst/>
          </a:prstGeom>
          <a:solidFill>
            <a:srgbClr val="D96C35"/>
          </a:solidFill>
          <a:ln w="1270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059168" y="272491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19088" y="326440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movement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19088" y="372160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and return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get longer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40496" y="3264408"/>
            <a:ext cx="347472" cy="274320"/>
          </a:xfrm>
          <a:prstGeom prst="chevron">
            <a:avLst/>
          </a:prstGeom>
          <a:solidFill>
            <a:srgbClr val="7F8A94"/>
          </a:solidFill>
          <a:ln w="12700">
            <a:solidFill>
              <a:srgbClr val="7F8A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979408" y="2276856"/>
            <a:ext cx="2148840" cy="2304288"/>
          </a:xfrm>
          <a:prstGeom prst="roundRect">
            <a:avLst>
              <a:gd name="adj" fmla="val 1702"/>
            </a:avLst>
          </a:prstGeom>
          <a:solidFill>
            <a:srgbClr val="F7E3E4"/>
          </a:solidFill>
          <a:ln w="12700">
            <a:solidFill>
              <a:srgbClr val="C64F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9802368" y="2578608"/>
            <a:ext cx="493776" cy="493776"/>
          </a:xfrm>
          <a:prstGeom prst="ellipse">
            <a:avLst/>
          </a:prstGeom>
          <a:solidFill>
            <a:srgbClr val="C64F55"/>
          </a:solidFill>
          <a:ln w="12700">
            <a:solidFill>
              <a:srgbClr val="C64F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9802368" y="272491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62288" y="326440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throughput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162288" y="372160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batch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later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1792" y="64282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studies capacity-proportional physical access, not every possible placement or workload.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2824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EXPERIMENT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 changes capacity while preserving the 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2066544"/>
            <a:ext cx="6400800" cy="0"/>
          </a:xfrm>
          <a:prstGeom prst="line">
            <a:avLst/>
          </a:prstGeom>
          <a:noFill/>
          <a:ln w="8890">
            <a:solidFill>
              <a:srgbClr val="D8E1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4813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/ shuttles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02152" y="14813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49047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2825496"/>
            <a:ext cx="6400800" cy="0"/>
          </a:xfrm>
          <a:prstGeom prst="line">
            <a:avLst/>
          </a:prstGeom>
          <a:noFill/>
          <a:ln w="8890">
            <a:solidFill>
              <a:srgbClr val="D8E1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68096" y="22402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platter tasks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2152" y="224028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2494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49808" y="3584448"/>
            <a:ext cx="6400800" cy="0"/>
          </a:xfrm>
          <a:prstGeom prst="line">
            <a:avLst/>
          </a:prstGeom>
          <a:noFill/>
          <a:ln w="8890">
            <a:solidFill>
              <a:srgbClr val="D8E1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68096" y="29992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size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02152" y="29992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MiB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300837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9808" y="4343400"/>
            <a:ext cx="6400800" cy="0"/>
          </a:xfrm>
          <a:prstGeom prst="line">
            <a:avLst/>
          </a:prstGeom>
          <a:noFill/>
          <a:ln w="8890">
            <a:solidFill>
              <a:srgbClr val="D8E1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68096" y="37581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02152" y="37581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paired runs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376732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9808" y="5102352"/>
            <a:ext cx="6400800" cy="0"/>
          </a:xfrm>
          <a:prstGeom prst="line">
            <a:avLst/>
          </a:prstGeom>
          <a:noFill/>
          <a:ln w="8890">
            <a:solidFill>
              <a:srgbClr val="D8E1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68096" y="451713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scale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02152" y="451713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1×, 2×, 4×, 8×, 16×, 32×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45262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35240" y="1481328"/>
            <a:ext cx="3840480" cy="4224528"/>
          </a:xfrm>
          <a:prstGeom prst="roundRect">
            <a:avLst>
              <a:gd name="adj" fmla="val 1190"/>
            </a:avLst>
          </a:prstGeom>
          <a:solidFill>
            <a:srgbClr val="F4F7F8"/>
          </a:solidFill>
          <a:ln w="11430">
            <a:solidFill>
              <a:srgbClr val="D8E1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982712" y="18105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boundary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982712" y="246888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fetch–read–return cycle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82712" y="312724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prefetch or reader staging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82712" y="378561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multi-shuttle collision model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82712" y="444398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normalized locations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982712" y="51297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9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as mechanism evidence, not a production forecast.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1792" y="64282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capacity points use the same logical and physical work.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2824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batch loses throughput as the access range expands</a:t>
            </a:r>
            <a:endParaRPr lang="en-US" sz="3000" dirty="0"/>
          </a:p>
        </p:txBody>
      </p:sp>
      <p:pic>
        <p:nvPicPr>
          <p:cNvPr id="6" name="Image 0" descr="/Users/dongchengen/Desktop/glint-glass-storage/results/capacity-scalability/figures/fig1_capacity_scaling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60224"/>
            <a:ext cx="8092440" cy="3094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15400" y="1527048"/>
            <a:ext cx="2423160" cy="1207008"/>
          </a:xfrm>
          <a:prstGeom prst="roundRect">
            <a:avLst>
              <a:gd name="adj" fmla="val 3030"/>
            </a:avLst>
          </a:prstGeom>
          <a:solidFill>
            <a:srgbClr val="F8E6DC"/>
          </a:solidFill>
          <a:ln w="1270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9162288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D96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35.3%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9162288" y="22677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retained at 32×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979408" y="31546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count and bytes are unchanged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79408" y="39136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and shuttle counts are unchanged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979408" y="467258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completion increases from 30.8 to 87.2 min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21792" y="64282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capacity-proportional access turns the same work into a longer batch.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12824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452360" y="61447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GLINT capacity-scalability pilot, 10 paired seeds.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Movement—not reader work—is the growing component</a:t>
            </a:r>
            <a:endParaRPr lang="en-US" sz="3000" dirty="0"/>
          </a:p>
        </p:txBody>
      </p:sp>
      <p:pic>
        <p:nvPicPr>
          <p:cNvPr id="6" name="Image 0" descr="/Users/dongchengen/Desktop/glint-glass-storage/results/capacity-scalability/figures/fig3_tim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971428"/>
            <a:ext cx="8412480" cy="33814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71432" y="1554480"/>
            <a:ext cx="2194560" cy="4178808"/>
          </a:xfrm>
          <a:prstGeom prst="roundRect">
            <a:avLst>
              <a:gd name="adj" fmla="val 2083"/>
            </a:avLst>
          </a:prstGeom>
          <a:solidFill>
            <a:srgbClr val="F4F7F8"/>
          </a:solidFill>
          <a:ln w="11430">
            <a:solidFill>
              <a:srgbClr val="D8E1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9464040" y="184708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→ 32×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464040" y="23957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72600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7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8.53 → 50.39 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509760" y="3310128"/>
            <a:ext cx="1517904" cy="0"/>
          </a:xfrm>
          <a:prstGeom prst="line">
            <a:avLst/>
          </a:prstGeom>
          <a:noFill/>
          <a:ln w="10160">
            <a:solidFill>
              <a:srgbClr val="D8E1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9464040" y="358444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total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72600" y="394106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6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35.7% → 12.5%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427464" y="4700016"/>
            <a:ext cx="1682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 is not slower. More of every cycle is spent moving media.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21792" y="64282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grows from 37.7% to 78.2% of the platter cycle.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12824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452360" y="61447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fixed 64 MiB request; read time varies with request size.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CHECKPOINT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movement does not automatically imply that zoning is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" y="1572768"/>
            <a:ext cx="521208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1430">
            <a:solidFill>
              <a:srgbClr val="D8E1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051560" y="1901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BUT CONFLICT-FREE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2971800"/>
            <a:ext cx="4297680" cy="0"/>
          </a:xfrm>
          <a:prstGeom prst="line">
            <a:avLst/>
          </a:prstGeom>
          <a:noFill/>
          <a:ln w="2540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353312" y="2862072"/>
            <a:ext cx="292608" cy="219456"/>
          </a:xfrm>
          <a:prstGeom prst="roundRect">
            <a:avLst>
              <a:gd name="adj" fmla="val 10417"/>
            </a:avLst>
          </a:prstGeom>
          <a:solidFill>
            <a:srgbClr val="218C99"/>
          </a:solidFill>
          <a:ln w="1270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097280" y="37307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 latency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431596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shuttle can travel far without blocking another shuttle.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572768"/>
            <a:ext cx="521208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1430">
            <a:solidFill>
              <a:srgbClr val="D8E1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601968" y="1901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PATHS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20840" y="2743200"/>
            <a:ext cx="4160520" cy="0"/>
          </a:xfrm>
          <a:prstGeom prst="line">
            <a:avLst/>
          </a:prstGeom>
          <a:noFill/>
          <a:ln w="25400">
            <a:solidFill>
              <a:srgbClr val="C64F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6976872" y="2633472"/>
            <a:ext cx="292608" cy="219456"/>
          </a:xfrm>
          <a:prstGeom prst="roundRect">
            <a:avLst>
              <a:gd name="adj" fmla="val 10417"/>
            </a:avLst>
          </a:prstGeom>
          <a:solidFill>
            <a:srgbClr val="C64F55"/>
          </a:solidFill>
          <a:ln w="12700">
            <a:solidFill>
              <a:srgbClr val="C64F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720840" y="3200400"/>
            <a:ext cx="4160520" cy="0"/>
          </a:xfrm>
          <a:prstGeom prst="line">
            <a:avLst/>
          </a:prstGeom>
          <a:noFill/>
          <a:ln w="2540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976872" y="3090672"/>
            <a:ext cx="292608" cy="219456"/>
          </a:xfrm>
          <a:prstGeom prst="roundRect">
            <a:avLst>
              <a:gd name="adj" fmla="val 10417"/>
            </a:avLst>
          </a:prstGeom>
          <a:solidFill>
            <a:srgbClr val="D96C35"/>
          </a:solidFill>
          <a:ln w="1270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179308" y="2678035"/>
            <a:ext cx="585216" cy="585216"/>
          </a:xfrm>
          <a:prstGeom prst="ellipse">
            <a:avLst/>
          </a:prstGeom>
          <a:solidFill>
            <a:srgbClr val="C64F55"/>
          </a:solidFill>
          <a:ln w="12700">
            <a:solidFill>
              <a:srgbClr val="C64F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8179308" y="2833483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37307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congestion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431596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addresses shuttle interactions—not physical distance by itself.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" y="64282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question: does scaling create enough shuttle interaction to justify spatial isolation?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2824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5C297AFF-6D26-D95A-20D5-FB6F0CFEF972}"/>
              </a:ext>
            </a:extLst>
          </p:cNvPr>
          <p:cNvSpPr/>
          <p:nvPr/>
        </p:nvSpPr>
        <p:spPr>
          <a:xfrm>
            <a:off x="9226296" y="2615710"/>
            <a:ext cx="292608" cy="219456"/>
          </a:xfrm>
          <a:prstGeom prst="roundRect">
            <a:avLst>
              <a:gd name="adj" fmla="val 10417"/>
            </a:avLst>
          </a:prstGeom>
          <a:solidFill>
            <a:srgbClr val="C64F55"/>
          </a:solidFill>
          <a:ln w="12700">
            <a:solidFill>
              <a:srgbClr val="C64F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E6C46443-D08C-B1BE-0008-EAC1E4521AC2}"/>
              </a:ext>
            </a:extLst>
          </p:cNvPr>
          <p:cNvSpPr/>
          <p:nvPr/>
        </p:nvSpPr>
        <p:spPr>
          <a:xfrm>
            <a:off x="9827514" y="3083211"/>
            <a:ext cx="292608" cy="219456"/>
          </a:xfrm>
          <a:prstGeom prst="roundRect">
            <a:avLst>
              <a:gd name="adj" fmla="val 10417"/>
            </a:avLst>
          </a:prstGeom>
          <a:solidFill>
            <a:srgbClr val="D96C35"/>
          </a:solidFill>
          <a:ln w="1270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90DCBABB-8A22-AC71-81C4-462507BCEB92}"/>
              </a:ext>
            </a:extLst>
          </p:cNvPr>
          <p:cNvCxnSpPr/>
          <p:nvPr/>
        </p:nvCxnSpPr>
        <p:spPr>
          <a:xfrm>
            <a:off x="6986016" y="2490952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29627F7B-1680-0FFD-8389-60F298251BCA}"/>
              </a:ext>
            </a:extLst>
          </p:cNvPr>
          <p:cNvCxnSpPr/>
          <p:nvPr/>
        </p:nvCxnSpPr>
        <p:spPr>
          <a:xfrm>
            <a:off x="6986016" y="3434255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5558E296-EF08-3DC2-EA9D-647B2DE33841}"/>
              </a:ext>
            </a:extLst>
          </p:cNvPr>
          <p:cNvCxnSpPr>
            <a:cxnSpLocks/>
          </p:cNvCxnSpPr>
          <p:nvPr/>
        </p:nvCxnSpPr>
        <p:spPr>
          <a:xfrm flipH="1">
            <a:off x="9192137" y="2490952"/>
            <a:ext cx="317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0DF9435A-E253-46BA-E8BE-3C1364658378}"/>
              </a:ext>
            </a:extLst>
          </p:cNvPr>
          <p:cNvCxnSpPr>
            <a:cxnSpLocks/>
          </p:cNvCxnSpPr>
          <p:nvPr/>
        </p:nvCxnSpPr>
        <p:spPr>
          <a:xfrm flipH="1">
            <a:off x="9827514" y="3429000"/>
            <a:ext cx="317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B4FCBDF0-1835-8B52-83BF-6AAB803DFA20}"/>
              </a:ext>
            </a:extLst>
          </p:cNvPr>
          <p:cNvCxnSpPr/>
          <p:nvPr/>
        </p:nvCxnSpPr>
        <p:spPr>
          <a:xfrm>
            <a:off x="1353312" y="2743200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ZONE-BENEFICIAL SCENARIO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Zoning is effective when traffic is dense and work is balanced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444752"/>
            <a:ext cx="5715000" cy="4462272"/>
          </a:xfrm>
          <a:prstGeom prst="roundRect">
            <a:avLst>
              <a:gd name="adj" fmla="val 1025"/>
            </a:avLst>
          </a:prstGeom>
          <a:solidFill>
            <a:srgbClr val="E2F0E5"/>
          </a:solidFill>
          <a:ln w="12700">
            <a:solidFill>
              <a:srgbClr val="4C9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051560" y="1755648"/>
            <a:ext cx="5029200" cy="704088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8890">
            <a:solidFill>
              <a:srgbClr val="B7D5B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353312" y="2112264"/>
            <a:ext cx="4352544" cy="0"/>
          </a:xfrm>
          <a:prstGeom prst="line">
            <a:avLst/>
          </a:prstGeom>
          <a:noFill/>
          <a:ln w="25400">
            <a:solidFill>
              <a:srgbClr val="4C9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609344" y="2002536"/>
            <a:ext cx="292608" cy="219456"/>
          </a:xfrm>
          <a:prstGeom prst="roundRect">
            <a:avLst>
              <a:gd name="adj" fmla="val 10417"/>
            </a:avLst>
          </a:prstGeom>
          <a:solidFill>
            <a:srgbClr val="4C9560"/>
          </a:solidFill>
          <a:ln w="12700">
            <a:solidFill>
              <a:srgbClr val="4C9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051560" y="2715768"/>
            <a:ext cx="5029200" cy="704088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8890">
            <a:solidFill>
              <a:srgbClr val="B7D5B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353312" y="3072384"/>
            <a:ext cx="4352544" cy="0"/>
          </a:xfrm>
          <a:prstGeom prst="line">
            <a:avLst/>
          </a:prstGeom>
          <a:noFill/>
          <a:ln w="25400">
            <a:solidFill>
              <a:srgbClr val="4C9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609344" y="2962656"/>
            <a:ext cx="292608" cy="219456"/>
          </a:xfrm>
          <a:prstGeom prst="roundRect">
            <a:avLst>
              <a:gd name="adj" fmla="val 10417"/>
            </a:avLst>
          </a:prstGeom>
          <a:solidFill>
            <a:srgbClr val="4C9560"/>
          </a:solidFill>
          <a:ln w="12700">
            <a:solidFill>
              <a:srgbClr val="4C9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051560" y="3675888"/>
            <a:ext cx="5029200" cy="704088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8890">
            <a:solidFill>
              <a:srgbClr val="B7D5B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353312" y="4032504"/>
            <a:ext cx="4352544" cy="0"/>
          </a:xfrm>
          <a:prstGeom prst="line">
            <a:avLst/>
          </a:prstGeom>
          <a:noFill/>
          <a:ln w="25400">
            <a:solidFill>
              <a:srgbClr val="4C9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609344" y="3922776"/>
            <a:ext cx="292608" cy="219456"/>
          </a:xfrm>
          <a:prstGeom prst="roundRect">
            <a:avLst>
              <a:gd name="adj" fmla="val 10417"/>
            </a:avLst>
          </a:prstGeom>
          <a:solidFill>
            <a:srgbClr val="4C9560"/>
          </a:solidFill>
          <a:ln w="12700">
            <a:solidFill>
              <a:srgbClr val="4C9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1051560" y="4636008"/>
            <a:ext cx="5029200" cy="704088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8890">
            <a:solidFill>
              <a:srgbClr val="B7D5B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353312" y="4992624"/>
            <a:ext cx="4352544" cy="0"/>
          </a:xfrm>
          <a:prstGeom prst="line">
            <a:avLst/>
          </a:prstGeom>
          <a:noFill/>
          <a:ln w="25400">
            <a:solidFill>
              <a:srgbClr val="4C9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1609344" y="4882896"/>
            <a:ext cx="292608" cy="219456"/>
          </a:xfrm>
          <a:prstGeom prst="roundRect">
            <a:avLst>
              <a:gd name="adj" fmla="val 10417"/>
            </a:avLst>
          </a:prstGeom>
          <a:solidFill>
            <a:srgbClr val="4C9560"/>
          </a:solidFill>
          <a:ln w="12700">
            <a:solidFill>
              <a:srgbClr val="4C9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1353312" y="5504688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9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traffic domains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76872" y="16093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9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ZONE-FRIENDLY CONDITIONS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76872" y="213969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shuttles move concurrently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76872" y="285292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compete for shared rails or readers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76872" y="367588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 work is spatially balanced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76872" y="449884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tail latency matters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76872" y="51846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30184" y="5148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4C9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blocking + simpler traffic control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21792" y="64282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benefit comes from avoiding congestion while keeping all partitions useful.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2824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52360" y="61447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evidence: Project Silica, SOSP 2023, §7.5.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ZONE-HARMFUL SCENARIO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zoning becomes costly when demand and boundaries diverge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4447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 WORK BY ZONE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" y="2002536"/>
            <a:ext cx="420624" cy="3246120"/>
          </a:xfrm>
          <a:prstGeom prst="rect">
            <a:avLst/>
          </a:prstGeom>
          <a:solidFill>
            <a:srgbClr val="C64F55"/>
          </a:solidFill>
          <a:ln w="12700">
            <a:solidFill>
              <a:srgbClr val="C64F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22960" y="5367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81328" y="4535424"/>
            <a:ext cx="420624" cy="713232"/>
          </a:xfrm>
          <a:prstGeom prst="rect">
            <a:avLst/>
          </a:prstGeom>
          <a:solidFill>
            <a:srgbClr val="7F8A94"/>
          </a:solidFill>
          <a:ln w="12700">
            <a:solidFill>
              <a:srgbClr val="7F8A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463040" y="5367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21408" y="4572000"/>
            <a:ext cx="420624" cy="676656"/>
          </a:xfrm>
          <a:prstGeom prst="rect">
            <a:avLst/>
          </a:prstGeom>
          <a:solidFill>
            <a:srgbClr val="7F8A94"/>
          </a:solidFill>
          <a:ln w="12700">
            <a:solidFill>
              <a:srgbClr val="7F8A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103120" y="5367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61488" y="4590288"/>
            <a:ext cx="420624" cy="658368"/>
          </a:xfrm>
          <a:prstGeom prst="rect">
            <a:avLst/>
          </a:prstGeom>
          <a:solidFill>
            <a:srgbClr val="7F8A94"/>
          </a:solidFill>
          <a:ln w="12700">
            <a:solidFill>
              <a:srgbClr val="7F8A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2743200" y="5367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1568" y="4626864"/>
            <a:ext cx="420624" cy="621792"/>
          </a:xfrm>
          <a:prstGeom prst="rect">
            <a:avLst/>
          </a:prstGeom>
          <a:solidFill>
            <a:srgbClr val="7F8A94"/>
          </a:solidFill>
          <a:ln w="12700">
            <a:solidFill>
              <a:srgbClr val="7F8A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67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41648" y="4654296"/>
            <a:ext cx="420624" cy="594360"/>
          </a:xfrm>
          <a:prstGeom prst="rect">
            <a:avLst/>
          </a:prstGeom>
          <a:solidFill>
            <a:srgbClr val="7F8A94"/>
          </a:solidFill>
          <a:ln w="12700">
            <a:solidFill>
              <a:srgbClr val="7F8A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023360" y="5367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81728" y="4681728"/>
            <a:ext cx="420624" cy="566928"/>
          </a:xfrm>
          <a:prstGeom prst="rect">
            <a:avLst/>
          </a:prstGeom>
          <a:solidFill>
            <a:srgbClr val="7F8A94"/>
          </a:solidFill>
          <a:ln w="12700">
            <a:solidFill>
              <a:srgbClr val="7F8A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663440" y="5367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21808" y="4700016"/>
            <a:ext cx="420624" cy="548640"/>
          </a:xfrm>
          <a:prstGeom prst="rect">
            <a:avLst/>
          </a:prstGeom>
          <a:solidFill>
            <a:srgbClr val="7F8A94"/>
          </a:solidFill>
          <a:ln w="12700">
            <a:solidFill>
              <a:srgbClr val="7F8A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303520" y="5367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5248656"/>
            <a:ext cx="5074920" cy="0"/>
          </a:xfrm>
          <a:prstGeom prst="line">
            <a:avLst/>
          </a:prstGeom>
          <a:noFill/>
          <a:ln w="12700">
            <a:solidFill>
              <a:srgbClr val="D8E1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804672" y="168249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owner remains busy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4224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owners become idle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1444752"/>
            <a:ext cx="4901184" cy="4334256"/>
          </a:xfrm>
          <a:prstGeom prst="roundRect">
            <a:avLst>
              <a:gd name="adj" fmla="val 1055"/>
            </a:avLst>
          </a:prstGeom>
          <a:solidFill>
            <a:srgbClr val="FFFFFF"/>
          </a:solidFill>
          <a:ln w="11430">
            <a:solidFill>
              <a:srgbClr val="D8E1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784848" y="179222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ZONE-UNFRIENDLY CONDITIONS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84848" y="23408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Shuttle traffic is naturally sparse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784848" y="3044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concentrate in a few zones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784848" y="37490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regions move over time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784848" y="44531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resources cannot help busy owners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784848" y="5175504"/>
            <a:ext cx="3925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6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cost: stranded capacity and a longer batch tail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21792" y="64282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ownership is useful only when its traffic benefit exceeds its resource-fragmentation cost.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2824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RELATIONSHIP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growth can make zoning less necessary—or more necessary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572768"/>
            <a:ext cx="5212080" cy="4242816"/>
          </a:xfrm>
          <a:prstGeom prst="roundRect">
            <a:avLst>
              <a:gd name="adj" fmla="val 1078"/>
            </a:avLst>
          </a:prstGeom>
          <a:solidFill>
            <a:srgbClr val="DCEFF1"/>
          </a:solidFill>
          <a:ln w="1270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78992" y="19202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DILUTION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248716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 area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26080" y="2926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78992" y="350215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shuttle density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992" y="48646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may matter less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263640" y="1572768"/>
            <a:ext cx="5212080" cy="4242816"/>
          </a:xfrm>
          <a:prstGeom prst="roundRect">
            <a:avLst>
              <a:gd name="adj" fmla="val 1078"/>
            </a:avLst>
          </a:prstGeom>
          <a:solidFill>
            <a:srgbClr val="F8E6DC"/>
          </a:solidFill>
          <a:ln w="1270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1920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ROUTE OCCUPANCY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48716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trips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76488" y="2926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9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629400" y="350215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Paths remain active longer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48646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9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may matter more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423160" y="5989320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effect dominates under fixed readers and shuttles?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1792" y="64282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an amplifier; traffic concurrency and spatial demand determine the zoning outcome.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2824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7A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RESEARCH DIRECTION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 interaction—or coordinate it?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481328"/>
            <a:ext cx="5230368" cy="4023360"/>
          </a:xfrm>
          <a:prstGeom prst="roundRect">
            <a:avLst>
              <a:gd name="adj" fmla="val 909"/>
            </a:avLst>
          </a:prstGeom>
          <a:solidFill>
            <a:srgbClr val="192B33"/>
          </a:solidFill>
          <a:ln w="11430">
            <a:solidFill>
              <a:srgbClr val="45606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51560" y="1810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ZONING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176272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 interaction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051560" y="2816352"/>
            <a:ext cx="4498848" cy="484632"/>
          </a:xfrm>
          <a:prstGeom prst="roundRect">
            <a:avLst>
              <a:gd name="adj" fmla="val 4717"/>
            </a:avLst>
          </a:prstGeom>
          <a:solidFill>
            <a:srgbClr val="223943"/>
          </a:solidFill>
          <a:ln w="7620">
            <a:solidFill>
              <a:srgbClr val="47626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325880" y="3063240"/>
            <a:ext cx="3931920" cy="0"/>
          </a:xfrm>
          <a:prstGeom prst="line">
            <a:avLst/>
          </a:prstGeom>
          <a:noFill/>
          <a:ln w="2032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517904" y="2953512"/>
            <a:ext cx="256032" cy="219456"/>
          </a:xfrm>
          <a:prstGeom prst="roundRect">
            <a:avLst>
              <a:gd name="adj" fmla="val 8333"/>
            </a:avLst>
          </a:prstGeom>
          <a:solidFill>
            <a:srgbClr val="218C99"/>
          </a:solidFill>
          <a:ln w="1270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051560" y="3483864"/>
            <a:ext cx="4498848" cy="484632"/>
          </a:xfrm>
          <a:prstGeom prst="roundRect">
            <a:avLst>
              <a:gd name="adj" fmla="val 4717"/>
            </a:avLst>
          </a:prstGeom>
          <a:solidFill>
            <a:srgbClr val="223943"/>
          </a:solidFill>
          <a:ln w="7620">
            <a:solidFill>
              <a:srgbClr val="47626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325880" y="3730752"/>
            <a:ext cx="3931920" cy="0"/>
          </a:xfrm>
          <a:prstGeom prst="line">
            <a:avLst/>
          </a:prstGeom>
          <a:noFill/>
          <a:ln w="2032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2569464" y="3621024"/>
            <a:ext cx="256032" cy="219456"/>
          </a:xfrm>
          <a:prstGeom prst="roundRect">
            <a:avLst>
              <a:gd name="adj" fmla="val 8333"/>
            </a:avLst>
          </a:prstGeom>
          <a:solidFill>
            <a:srgbClr val="218C99"/>
          </a:solidFill>
          <a:ln w="1270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051560" y="4151376"/>
            <a:ext cx="4498848" cy="484632"/>
          </a:xfrm>
          <a:prstGeom prst="roundRect">
            <a:avLst>
              <a:gd name="adj" fmla="val 4717"/>
            </a:avLst>
          </a:prstGeom>
          <a:solidFill>
            <a:srgbClr val="223943"/>
          </a:solidFill>
          <a:ln w="7620">
            <a:solidFill>
              <a:srgbClr val="47626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1325880" y="4398264"/>
            <a:ext cx="3931920" cy="0"/>
          </a:xfrm>
          <a:prstGeom prst="line">
            <a:avLst/>
          </a:prstGeom>
          <a:noFill/>
          <a:ln w="2032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621024" y="4288536"/>
            <a:ext cx="256032" cy="219456"/>
          </a:xfrm>
          <a:prstGeom prst="roundRect">
            <a:avLst>
              <a:gd name="adj" fmla="val 8333"/>
            </a:avLst>
          </a:prstGeom>
          <a:solidFill>
            <a:srgbClr val="218C99"/>
          </a:solidFill>
          <a:ln w="12700">
            <a:solidFill>
              <a:srgbClr val="218C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051560" y="4910328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predictable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54680" y="491032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A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idle resources cannot cross boundaries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54496" y="1481328"/>
            <a:ext cx="5230368" cy="4023360"/>
          </a:xfrm>
          <a:prstGeom prst="roundRect">
            <a:avLst>
              <a:gd name="adj" fmla="val 909"/>
            </a:avLst>
          </a:prstGeom>
          <a:solidFill>
            <a:srgbClr val="2A241F"/>
          </a:solidFill>
          <a:ln w="11430">
            <a:solidFill>
              <a:srgbClr val="7651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592824" y="18105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A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COORDINATION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92824" y="2176272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 interaction</a:t>
            </a:r>
            <a:endParaRPr lang="en-US" sz="2500" dirty="0"/>
          </a:p>
        </p:txBody>
      </p:sp>
      <p:sp>
        <p:nvSpPr>
          <p:cNvPr id="23" name="Shape 21"/>
          <p:cNvSpPr/>
          <p:nvPr/>
        </p:nvSpPr>
        <p:spPr>
          <a:xfrm>
            <a:off x="6812280" y="3063240"/>
            <a:ext cx="3913632" cy="0"/>
          </a:xfrm>
          <a:prstGeom prst="line">
            <a:avLst/>
          </a:prstGeom>
          <a:noFill/>
          <a:ln w="2540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068312" y="2953512"/>
            <a:ext cx="292608" cy="219456"/>
          </a:xfrm>
          <a:prstGeom prst="roundRect">
            <a:avLst>
              <a:gd name="adj" fmla="val 10417"/>
            </a:avLst>
          </a:prstGeom>
          <a:solidFill>
            <a:srgbClr val="D96C35"/>
          </a:solidFill>
          <a:ln w="1270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6812280" y="3767328"/>
            <a:ext cx="3913632" cy="0"/>
          </a:xfrm>
          <a:prstGeom prst="line">
            <a:avLst/>
          </a:prstGeom>
          <a:noFill/>
          <a:ln w="25400">
            <a:solidFill>
              <a:srgbClr val="C64F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7068312" y="3657600"/>
            <a:ext cx="292608" cy="219456"/>
          </a:xfrm>
          <a:prstGeom prst="roundRect">
            <a:avLst>
              <a:gd name="adj" fmla="val 10417"/>
            </a:avLst>
          </a:prstGeom>
          <a:solidFill>
            <a:srgbClr val="C64F55"/>
          </a:solidFill>
          <a:ln w="12700">
            <a:solidFill>
              <a:srgbClr val="C64F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8686800" y="3182112"/>
            <a:ext cx="548640" cy="548640"/>
          </a:xfrm>
          <a:prstGeom prst="ellipse">
            <a:avLst/>
          </a:prstGeom>
          <a:solidFill>
            <a:srgbClr val="382B24"/>
          </a:solidFill>
          <a:ln w="15240">
            <a:solidFill>
              <a:srgbClr val="D96C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8686800" y="33375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A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39712" y="431596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A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movement when paths do not conflict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92824" y="491032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A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66760" y="4910328"/>
            <a:ext cx="2724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C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online scheduling has a cost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078992" y="5742432"/>
            <a:ext cx="10040112" cy="594360"/>
          </a:xfrm>
          <a:prstGeom prst="roundRect">
            <a:avLst>
              <a:gd name="adj" fmla="val 5385"/>
            </a:avLst>
          </a:prstGeom>
          <a:solidFill>
            <a:srgbClr val="20343D"/>
          </a:solidFill>
          <a:ln w="10160">
            <a:solidFill>
              <a:srgbClr val="55717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1353312" y="5916168"/>
            <a:ext cx="9491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keep movement conflict-free without permanent shuttle ownership?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1792" y="64282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4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direction: preserve conflict avoidance while recovering resource flexibility.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2824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1188</Words>
  <Application>Microsoft Macintosh PowerPoint</Application>
  <PresentationFormat>寬螢幕</PresentationFormat>
  <Paragraphs>194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GLINT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Capacity Scalability and the Operating Region of Shuttle Zoning</dc:title>
  <dc:subject>Capacity scalability and shuttle zoning in glass storage</dc:subject>
  <dc:creator>GLINT Glass Storage Research</dc:creator>
  <cp:lastModifiedBy>董承恩</cp:lastModifiedBy>
  <cp:revision>3</cp:revision>
  <dcterms:created xsi:type="dcterms:W3CDTF">2026-09-06T17:57:38Z</dcterms:created>
  <dcterms:modified xsi:type="dcterms:W3CDTF">2026-09-07T01:09:02Z</dcterms:modified>
</cp:coreProperties>
</file>